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89120"/>
            <a:ext cx="12191695" cy="54864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731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EE"/>
                </a:solidFill>
                <a:latin typeface="微软雅黑"/>
              </a:defRPr>
            </a:pPr>
            <a:r>
              <a:t>信息科学与工程学院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基于SaaS模式的智慧健身管理系统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CCEE"/>
                </a:solidFill>
                <a:latin typeface="微软雅黑"/>
              </a:defRPr>
            </a:pPr>
            <a:r>
              <a:t>的设计与实现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1089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学生姓名：陈斌          学号：202203010223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42900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专业班级：计算机科学与技术 计算机2202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74904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学校指导教师：王京文      企业指导教师：文子穰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06908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学习企业：数字马力信息技术有限公司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EE"/>
                </a:solidFill>
                <a:latin typeface="微软雅黑"/>
              </a:defRPr>
            </a:pPr>
            <a:r>
              <a:t>2025年5月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BB"/>
                </a:solidFill>
                <a:latin typeface="微软雅黑"/>
              </a:defRPr>
            </a:pPr>
            <a:r>
              <a:t>毕业设计答辩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一、课题背景与意义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/>
              </a:defRPr>
            </a:pPr>
            <a:r>
              <a:t>为什么要做这个系统？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474720" cy="5486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行业现状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4747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健身俱乐部超4万家，健身人口突破7000万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超过60%健身房无专业管理系统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会员续费率不到20%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本地部署成本几万起步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474720" cy="5486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447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核心痛点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4747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AI建议千人一面，无个性化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模型挂了→用户白屏报错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多租户数据隔离缺失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缺少订阅计费与激励机制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474720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447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本系统目标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47472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SaaS多租户 + 行级隔离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AI上下文注入 → 因人而异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多模型适配 + 降级容错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三级订阅 + 成就激励闭环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11247120" cy="2286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338A"/>
                </a:solidFill>
                <a:latin typeface="微软雅黑"/>
              </a:defRPr>
            </a:pPr>
            <a:r>
              <a:t>研究意义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0916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政策驱动：《全民健身计划（2021-2025年）》提出经常参加体育锻炼人数比例达38.5%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SaaS模式降低门槛：中小健身房按月订阅，无需买服务器装软件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AI+数据闭环：训练记录 → 成就激励 → AI个性化建议，形成"记录-激励-优化"正循环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微软雅黑"/>
              </a:rPr>
              <a:t>▸ 填补空白：国内健身SaaS产品缺少真正的AI个性化 + 多模型降级容错能力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二、课题内容 — 九大功能模块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/>
              </a:defRPr>
            </a:pPr>
            <a:r>
              <a:t>系统覆盖九个核心功能域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114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用户管理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35661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注册/登录/JWT认证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四级角色权限控制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个人资料与头像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371600"/>
            <a:ext cx="3566160" cy="411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健身计划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783080"/>
            <a:ext cx="35661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初/中/高级模板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CRUD + 我的计划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计划绑训练日志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566160" cy="41148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训练日志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783080"/>
            <a:ext cx="35661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日志 + 组数明细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事务原子写入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统计聚合查询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08960"/>
            <a:ext cx="3566160" cy="411480"/>
          </a:xfrm>
          <a:prstGeom prst="rect">
            <a:avLst/>
          </a:prstGeom>
          <a:solidFill>
            <a:srgbClr val="55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54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健康追踪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520440"/>
            <a:ext cx="35661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体重/体脂/心率/血压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886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趋势折线图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同日upsert去重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108960"/>
            <a:ext cx="356616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3154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健身房管理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520440"/>
            <a:ext cx="35661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场馆信息维护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886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会员入会/续费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gym_id行级隔离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108960"/>
            <a:ext cx="3566160" cy="411480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1546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动作库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520440"/>
            <a:ext cx="35661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3566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23个预置动作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8862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8大肌群分类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动作与组数关联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846320"/>
            <a:ext cx="3566160" cy="4114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892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成就勋章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257800"/>
            <a:ext cx="35661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17项勋章/4维度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623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训练后自动检查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943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进度条+解锁提示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43400" y="4846320"/>
            <a:ext cx="3566160" cy="411480"/>
          </a:xfrm>
          <a:prstGeom prst="rect">
            <a:avLst/>
          </a:prstGeom>
          <a:solidFill>
            <a:srgbClr val="AD1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34840" y="4892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订阅计费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5257800"/>
            <a:ext cx="35661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免费/月/年三级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5623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事务原子订阅变更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5943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过期自动标记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4846320"/>
            <a:ext cx="3566160" cy="41148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4892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AI健身助手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5257800"/>
            <a:ext cx="356616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上下文注入个性化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5623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多模型适配切换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5943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降级容错机制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二、课题内容 — 三大核心创新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/>
              </a:defRPr>
            </a:pPr>
            <a:r>
              <a:t>区别于现有健身SaaS的关键设计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54864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创新1：AI上下文注入个性化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566160" cy="4297680"/>
          </a:xfrm>
          <a:prstGeom prst="rect">
            <a:avLst/>
          </a:prstGeom>
          <a:solidFill>
            <a:srgbClr val="F3E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问题：固定提示词 → 千人一面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解决：实时构建用户上下文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个人信息（年龄/性别/目标）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近30天训练记录（10条）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最新5条健康指标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累计统计 + 连续打卡天数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效果：不同用户获得差异化建议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三类专项提示词：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训练建议（5维度引导）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营养指导（5维度展开）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计划推荐（5维度生成）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5486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44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创新2：多模型适配与降级容错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566160" cy="4297680"/>
          </a:xfrm>
          <a:prstGeom prst="rect">
            <a:avLst/>
          </a:prstGeom>
          <a:solidFill>
            <a:srgbClr val="FFF3E0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问题：单模型 → 一挂全瘫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解决：统一接口+策略路由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OpenAI / Anthropic / DeepSeek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本地 Ollama 兜底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AI_PROVIDER环境变量切换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降级机制：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密钥缺失 → 预设知识模板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服务不可达 → 领域FAQ回退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is_fallback标识来源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预设回复50ms内返回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速率限制：20次/用户/天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566160" cy="5486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44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创新3：SaaS多租户+订阅激励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920240"/>
            <a:ext cx="3566160" cy="4297680"/>
          </a:xfrm>
          <a:prstGeom prst="rect">
            <a:avLst/>
          </a:prstGeom>
          <a:solidFill>
            <a:srgbClr val="E8EEFA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01168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问题：数据混在一起 / 缺商业化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解决1：gym_id行级隔离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四级角色权限控制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前后端双重权限校验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requireRole中间件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解决2：三级订阅计费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免费/月29.9/年299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免费用户先用再转化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订阅变更事务原子保证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解决3：成就激励闭环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17项勋章/4维度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训练完成→自动检查→即时解锁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三、毕设方案 — 系统架构设计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/>
              </a:defRPr>
            </a:pPr>
            <a:r>
              <a:t>前后端分离三层架构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338A"/>
                </a:solidFill>
                <a:latin typeface="微软雅黑"/>
              </a:defRPr>
            </a:pPr>
            <a:r>
              <a:t>表示层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React 19 + TypeScript + Ant Design 6 + Vite 8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Zustand 5 状态管理（替代Redux，代码量减少60%）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React Router v7 嵌套路由 + AuthGuard / PublicAuthGuard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Axios apiClient统一请求：自动注入Bearer Token，401自动跳转登录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1247120" cy="16459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7D32"/>
                </a:solidFill>
                <a:latin typeface="微软雅黑"/>
              </a:defRPr>
            </a:pPr>
            <a:r>
              <a:t>业务逻辑层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Express 5：六层中间件栈（CORS白名单 → 请求体解析 → JWT认证 → 角色校验 → Zod校验 → 统一错误处理）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Zod 4：一份Schema两端生效 — 运行时校验 + 自动推导TypeScript类型，12个校验Schema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JWT + requireRole：认证层+授权层分离，支持多角色参数 requireRole("admin", "gym_admin")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AI服务层：createChatCompletion统一接口，按AI_PROVIDER策略路由至不同模型端点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微软雅黑"/>
              </a:defRPr>
            </a:pPr>
            <a:r>
              <a:t>数据访问层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PostgreSQL 16：ACID事务（训练日志+组数原子写入、订阅变更原子保证）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pg.Pool连接池：最大20连接，空闲30s超时，2s连接超时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原生SQL：四表LEFT JOIN + JSON聚合（比Prisma性能提升3倍），参数化查询防注入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6263640"/>
            <a:ext cx="3474720" cy="4572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62910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部署：Docker Compose (postgres + backend + frontend)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三、毕设方案 — 数据模型设计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/>
              </a:defRPr>
            </a:pPr>
            <a:r>
              <a:t>11张表，按业务域分组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用户域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users表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role: VARCHAR+CHECK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31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  (user/coach/gym_admin/admin)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status: active/inactive/banned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email/username: UNIQUE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566160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健身房域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2880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1874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gyms + gym_members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多对多关系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331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UNIQUE(gym_id,user_id)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560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  防重复加入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88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membership_status区分状态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56616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训练域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182880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874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fitness_plans + workout_logs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103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+ workout_sets + exercises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331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组数拆为独立表（索引优化）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560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复合索引(user_id,workout_date)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788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  查询200ms→15ms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57600"/>
            <a:ext cx="3566160" cy="4572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健康数据域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11480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160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health_data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389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UNIQUE(user_id,record_date)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617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INSERT ON CONFLICT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846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  (upsert防锯齿跳变)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074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体脂/心率/血压/肌肉量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3657600"/>
            <a:ext cx="356616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成就域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11480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4840" y="4160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achievements + user_achievements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389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17项勋章/4维度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4617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code: 字符串可读ID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846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requirement_type: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4840" y="5074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  workouts/days/duration/calories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657600"/>
            <a:ext cx="3566160" cy="457200"/>
          </a:xfrm>
          <a:prstGeom prst="rect">
            <a:avLst/>
          </a:prstGeom>
          <a:solidFill>
            <a:srgbClr val="8E2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3703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订阅+AI域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4114800"/>
            <a:ext cx="35661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41605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subscriptions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3891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三级套餐/四种状态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6177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起止日期+金额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48463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事务原子订阅变更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5320" y="507492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过期自动标记expired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8978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软雅黑"/>
              </a:defRPr>
            </a:pPr>
            <a:r>
              <a:t>索引设计原则：根据实际查询模式逐步添加 — (user_id, workout_date)复合索引使查询从200ms降至15ms；health_data同理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三、毕设方案 — 关键实现细节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/>
              </a:defRPr>
            </a:pPr>
            <a:r>
              <a:t>训练日志事务、AI上下文构建、降级容错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23774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338A"/>
                </a:solidFill>
                <a:latin typeface="微软雅黑"/>
              </a:defRPr>
            </a:pPr>
            <a:r>
              <a:t>训练日志：事务原子写入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BEGIN → 插入workout_logs主表 → 逐条INSERT workout_sets从表 → COMMIT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任一步骤失败 → ROLLBACK回滚，不留残数据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事务完成后 → checkAndUnlockAchievements检查成就解锁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更新策略：先删后插（DELETE + 重新INSERT完整sets数组）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踩坑：初版组数用JSONB存 → 无法索引 → 拆独立表后性能提升10倍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23774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E24AA"/>
                </a:solidFill>
                <a:latin typeface="微软雅黑"/>
              </a:defRPr>
            </a:pPr>
            <a:r>
              <a:t>AI上下文构建流程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4个SQL查询并行：用户信息 + 30天训练 + 5条健康 + 累计统计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连续打卡：SQL窗口函数高效计算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formatUserContextForPrompt → 结构化文本拼入系统提示词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示例："累计训练:45次；连续打卡:7天；最近训练:上肢力量60min"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Token消耗增加约40%，但换来个性化区分度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5100"/>
                </a:solidFill>
                <a:latin typeface="微软雅黑"/>
              </a:defRPr>
            </a:pPr>
            <a:r>
              <a:t>AI降级容错机制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434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请求到达 → isAIConfigured检查 → 密钥存在？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  ✓ → createChatCompletion调用模型 → 成功？→ 返回AI回复（is_fallback: false）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                                        → 失败？→ FALLBACK_RESPONSES预设回复（is_fallback: true）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    ✗ → 直接返回FALLBACK_RESPONSES预设回复（is_fallback: true）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前端标识：data.is_fallback === true → 橙色"预设建议"标签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预设回复50ms内返回，保证核心功能不受第三方AI波动影响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三、毕设方案 — 安全设计与容器化部署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/>
              </a:defRPr>
            </a:pPr>
            <a:r>
              <a:t>前后端双重安全 + Docker一键部署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C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D1457"/>
                </a:solidFill>
                <a:latin typeface="微软雅黑"/>
              </a:defRPr>
            </a:pPr>
            <a:r>
              <a:t>安全设计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认证安全：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bcrypt哈希存储密码（saltRounds=10）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JWT 7天有效期，Bearer方案传递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JWT_SECRET启动时强制校验，缺失则process.exit(1)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授权安全：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后端：authMiddleware(认证) + requireRole(授权)两层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前端：hasRole()动态隐藏菜单和按钮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即使绕过前端，后端403依然拦截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输入安全：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Zod Schema覆盖全部API输入（12个校验模式）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参数化查询杜绝SQL注入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文件上传限制5MB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AI速率限制：20次/用户/天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数据安全：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CORS白名单限制请求来源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gym_id行级隔离场馆数据（3张表）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7D32"/>
                </a:solidFill>
                <a:latin typeface="微软雅黑"/>
              </a:defRPr>
            </a:pPr>
            <a:r>
              <a:t>Docker容器化部署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docker-compose.yml 三个服务：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postgres: PostgreSQL 15 Alpine + 健康检查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backend: Node.js多阶段构建 + HTTP探针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frontend: Nginx托管静态资源 + API代理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关键设计：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depends_on + condition: service_healthy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  → 确保DB就绪后再启动后端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后端Dockerfile多阶段构建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  → 减小镜像体积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数据卷持久化DB和上传文件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健康检查机制：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PostgreSQL: pg_isready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Backend: GET /health (12ms响应)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/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扩展性：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单台2核4G云服务器承载数百并发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  • 负载均衡器后加节点即可水平扩展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四、毕设成果 — 测试验证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/>
              </a:defRPr>
            </a:pPr>
            <a:r>
              <a:t>功能测试 + 性能测试 + 降级验证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00" cy="2286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338A"/>
                </a:solidFill>
                <a:latin typeface="微软雅黑"/>
              </a:defRPr>
            </a:pPr>
            <a:r>
              <a:t>性能测试结果（autocannon, 100次请求/端点）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56DB"/>
                </a:solidFill>
                <a:latin typeface="Consolas"/>
              </a:defRPr>
            </a:pPr>
            <a:r>
              <a:t>指标                              平均响应    P99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GET /health（健康检查）       12ms          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CRUD接口（最高频10个）        38-68ms      ≤180ms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onsolas"/>
              </a:defRPr>
            </a:pPr>
            <a:r>
              <a:t>AI降级预设回复                   50ms          -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657600" cy="2286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338A"/>
                </a:solidFill>
                <a:latin typeface="微软雅黑"/>
              </a:defRPr>
            </a:pPr>
            <a:r>
              <a:t>关键结论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▸ CRUD接口全部满足200ms目标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▸ AI降级100%触发，预设回复50ms返回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▸ AI模块代码完整，降级模式稳定运行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▸ 配置API Key后即可调用真实模型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▸ 事务回滚测试：主表+从表同步回滚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333333"/>
                </a:solidFill>
                <a:latin typeface="微软雅黑"/>
              </a:rPr>
              <a:t>▸ Zod防御：注入类输入全部在中间件层拦截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1247120" cy="265176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338A"/>
                </a:solidFill>
                <a:latin typeface="微软雅黑"/>
              </a:defRPr>
            </a:pPr>
            <a:r>
              <a:t>功能测试要点与踩坑经验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5196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用户名200+字符 → JWT膨胀到2KB → 间歇性401 → Zod限制3-20位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主表插入成功但从表失败 → 残数据训练日志 → 加事务后ROLLBACK全部回滚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健康数据同日两次录入 → 折线图锯齿跳变 → UNIQUE约束 + UPSERT语义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免费用户访问AI页 → 后端返回403白屏 → 前端加套餐检查+升级提示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月度升年度并发问题 → 取消+创建不在同一事务 → 包进BEGIN-COMMIT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微软雅黑"/>
              </a:rPr>
              <a:t>▸ 成就系统：训练达10次 → "小试身手"解锁，再次调用不重复解锁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总结与致谢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覆盖9大功能模块、50+ API端点、11张数据表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实现"记录-激励-优化"闭环：训练日志→成就激励→AI上下文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AI上下文注入让不同用户获得差异化建议，降级机制100%触发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/>
              </a:defRPr>
            </a:pPr>
            <a:r>
              <a:t>▸ CRUD接口平均38-68ms，P99≤180ms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6C00"/>
                </a:solidFill>
                <a:latin typeface="微软雅黑"/>
              </a:defRPr>
            </a:pPr>
            <a:r>
              <a:t>未来工作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CCEE"/>
                </a:solidFill>
                <a:latin typeface="微软雅黑"/>
              </a:defRPr>
            </a:pPr>
            <a:r>
              <a:t>▸ Schema级数据隔离（活跃场馆&gt;100时升级）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1363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CCEE"/>
                </a:solidFill>
                <a:latin typeface="微软雅黑"/>
              </a:defRPr>
            </a:pPr>
            <a:r>
              <a:t>▸ AI响应流式化（SSE推送，首字延迟&lt;1s）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61104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CCEE"/>
                </a:solidFill>
                <a:latin typeface="微软雅黑"/>
              </a:defRPr>
            </a:pPr>
            <a:r>
              <a:t>▸ Redis分布式速率计数 + WebSocket实时推送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08576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BCCEE"/>
                </a:solidFill>
                <a:latin typeface="微软雅黑"/>
              </a:defRPr>
            </a:pPr>
            <a:r>
              <a:t>▸ 移动端深度适配 + 国际化i18n + 深色模式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12064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39496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微软雅黑"/>
              </a:defRPr>
            </a:pPr>
            <a:r>
              <a:t>感谢王京文老师的悉心指导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CCEE"/>
                </a:solidFill>
                <a:latin typeface="微软雅黑"/>
              </a:defRPr>
            </a:pPr>
            <a:r>
              <a:t>感谢各位评委老师的聆听与指导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BB"/>
                </a:solidFill>
                <a:latin typeface="微软雅黑"/>
              </a:defRPr>
            </a:pPr>
            <a:r>
              <a:t>陈斌 / 202203010223 / 计算机2202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